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4988C97-1749-44EE-9F49-ADCE0A1807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EF9EC29-BDC0-4DE9-A4D0-93D1AE394F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86517F1-0292-4628-9D77-16720A95E3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D5F312B-248A-49B7-923B-194DEA81EE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1D7493B-9ABB-4B0E-B8E0-FE20058FF9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939B7B1-40C2-467A-893F-22C88AE7CC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B8424A5-AEC6-40AD-B92C-38E4947568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4AC0B45-CA1C-4BE7-A908-9047A42091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48F3FAD-160A-438B-98FA-F38EFF4CBA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491626C-0463-4739-94B8-D7494AD59E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D47112F-5828-43D6-973D-AC08E20589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Relationship Id="rId18" Type="http://schemas.openxmlformats.org/officeDocument/2006/relationships/image" Target="../media/image20.png"/><Relationship Id="rId19" Type="http://schemas.openxmlformats.org/officeDocument/2006/relationships/image" Target="../media/image21.png"/><Relationship Id="rId20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7.png"/><Relationship Id="rId6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4.png"/><Relationship Id="rId3" Type="http://schemas.openxmlformats.org/officeDocument/2006/relationships/image" Target="../media/image35.png"/><Relationship Id="rId4" Type="http://schemas.openxmlformats.org/officeDocument/2006/relationships/image" Target="../media/image45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5.png"/><Relationship Id="rId10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2" descr="image.png"/>
          <p:cNvPicPr/>
          <p:nvPr/>
        </p:nvPicPr>
        <p:blipFill>
          <a:blip r:embed="rId2"/>
          <a:stretch/>
        </p:blipFill>
        <p:spPr>
          <a:xfrm>
            <a:off x="5529240" y="1829520"/>
            <a:ext cx="1132560" cy="28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Picture 3" descr="image.png"/>
          <p:cNvPicPr/>
          <p:nvPr/>
        </p:nvPicPr>
        <p:blipFill>
          <a:blip r:embed="rId3"/>
          <a:stretch/>
        </p:blipFill>
        <p:spPr>
          <a:xfrm>
            <a:off x="2048040" y="4199400"/>
            <a:ext cx="8095320" cy="82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Box 4"/>
          <p:cNvSpPr/>
          <p:nvPr/>
        </p:nvSpPr>
        <p:spPr>
          <a:xfrm>
            <a:off x="1845360" y="2305800"/>
            <a:ext cx="8499960" cy="61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4859"/>
              </a:lnSpc>
            </a:pPr>
            <a:r>
              <a:rPr lang="en-US" sz="40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Drone-Based </a:t>
            </a:r>
            <a:r>
              <a:rPr lang="en-US" sz="40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Mapping System</a:t>
            </a:r>
            <a:endParaRPr lang="en-US" sz="4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2048040" y="3094560"/>
            <a:ext cx="8095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401"/>
              </a:lnSpc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Understanding Multi-View Geometry, Binocular Vision, and Image Formation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6"/>
          <p:cNvSpPr/>
          <p:nvPr/>
        </p:nvSpPr>
        <p:spPr>
          <a:xfrm>
            <a:off x="5715000" y="3780360"/>
            <a:ext cx="761040" cy="370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8000" rIns="90000" bIns="-18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2286000" y="4380480"/>
            <a:ext cx="17611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D9488"/>
                </a:solidFill>
                <a:effectLst/>
                <a:uFillTx/>
                <a:latin typeface="Times New Roman"/>
              </a:rPr>
              <a:t>Presented by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Times New Roman SemiBold"/>
              </a:rPr>
              <a:t>Gadwal Mohammad Muzammil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4238640" y="4380480"/>
            <a:ext cx="17611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D9488"/>
                </a:solidFill>
                <a:effectLst/>
                <a:uFillTx/>
                <a:latin typeface="Times New Roman"/>
              </a:rPr>
              <a:t>Register Number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Times New Roman SemiBold"/>
              </a:rPr>
              <a:t>192424279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6191280" y="4380480"/>
            <a:ext cx="17611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D9488"/>
                </a:solidFill>
                <a:effectLst/>
                <a:uFillTx/>
                <a:latin typeface="Times New Roman"/>
              </a:rPr>
              <a:t>Department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Times New Roman SemiBold"/>
              </a:rPr>
              <a:t>AI &amp; 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8143920" y="4380480"/>
            <a:ext cx="17611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D9488"/>
                </a:solidFill>
                <a:effectLst/>
                <a:uFillTx/>
                <a:latin typeface="Times New Roman"/>
              </a:rPr>
              <a:t>Supervised by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200" b="0" u="none" strike="noStrike">
                <a:solidFill>
                  <a:srgbClr val="0F172A"/>
                </a:solidFill>
                <a:effectLst/>
                <a:uFillTx/>
                <a:latin typeface="Times New Roman SemiBold"/>
              </a:rPr>
              <a:t>Mayuranathan 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Picture 2" descr="image.png"/>
          <p:cNvPicPr/>
          <p:nvPr/>
        </p:nvPicPr>
        <p:blipFill>
          <a:blip r:embed="rId2"/>
          <a:stretch/>
        </p:blipFill>
        <p:spPr>
          <a:xfrm>
            <a:off x="771480" y="1362240"/>
            <a:ext cx="5132880" cy="49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Picture 3" descr="image.png"/>
          <p:cNvPicPr/>
          <p:nvPr/>
        </p:nvPicPr>
        <p:blipFill>
          <a:blip r:embed="rId3"/>
          <a:stretch/>
        </p:blipFill>
        <p:spPr>
          <a:xfrm>
            <a:off x="6286680" y="1362240"/>
            <a:ext cx="5132880" cy="49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Picture 4" descr="image.png"/>
          <p:cNvPicPr/>
          <p:nvPr/>
        </p:nvPicPr>
        <p:blipFill>
          <a:blip r:embed="rId4"/>
          <a:stretch/>
        </p:blipFill>
        <p:spPr>
          <a:xfrm>
            <a:off x="1066680" y="3350880"/>
            <a:ext cx="2223000" cy="32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5" descr="image.png"/>
          <p:cNvPicPr/>
          <p:nvPr/>
        </p:nvPicPr>
        <p:blipFill>
          <a:blip r:embed="rId5"/>
          <a:stretch/>
        </p:blipFill>
        <p:spPr>
          <a:xfrm>
            <a:off x="3386160" y="3350880"/>
            <a:ext cx="2223000" cy="32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6" descr="image.png"/>
          <p:cNvPicPr/>
          <p:nvPr/>
        </p:nvPicPr>
        <p:blipFill>
          <a:blip r:embed="rId6"/>
          <a:stretch/>
        </p:blipFill>
        <p:spPr>
          <a:xfrm>
            <a:off x="1066680" y="3769920"/>
            <a:ext cx="2223000" cy="32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7" descr="image.png"/>
          <p:cNvPicPr/>
          <p:nvPr/>
        </p:nvPicPr>
        <p:blipFill>
          <a:blip r:embed="rId7"/>
          <a:stretch/>
        </p:blipFill>
        <p:spPr>
          <a:xfrm>
            <a:off x="3386160" y="3769920"/>
            <a:ext cx="2223000" cy="32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8" descr="image.png"/>
          <p:cNvPicPr/>
          <p:nvPr/>
        </p:nvPicPr>
        <p:blipFill>
          <a:blip r:embed="rId8"/>
          <a:stretch/>
        </p:blipFill>
        <p:spPr>
          <a:xfrm>
            <a:off x="1066680" y="4188960"/>
            <a:ext cx="2223000" cy="32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Picture 9" descr="image.png"/>
          <p:cNvPicPr/>
          <p:nvPr/>
        </p:nvPicPr>
        <p:blipFill>
          <a:blip r:embed="rId9"/>
          <a:stretch/>
        </p:blipFill>
        <p:spPr>
          <a:xfrm>
            <a:off x="3386160" y="4188960"/>
            <a:ext cx="2223000" cy="32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Box 10"/>
          <p:cNvSpPr/>
          <p:nvPr/>
        </p:nvSpPr>
        <p:spPr>
          <a:xfrm>
            <a:off x="771480" y="581040"/>
            <a:ext cx="1118016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Introduction to Drone Mapping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1"/>
          <p:cNvSpPr/>
          <p:nvPr/>
        </p:nvSpPr>
        <p:spPr>
          <a:xfrm>
            <a:off x="1066680" y="1657440"/>
            <a:ext cx="454248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4284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D9488"/>
                </a:solidFill>
                <a:effectLst/>
                <a:uFillTx/>
                <a:latin typeface="Times New Roman SemiBold"/>
              </a:rPr>
              <a:t> Overview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2"/>
          <p:cNvSpPr/>
          <p:nvPr/>
        </p:nvSpPr>
        <p:spPr>
          <a:xfrm>
            <a:off x="1066680" y="2428920"/>
            <a:ext cx="4542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9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Uses specialized drones equipped with advanced optical cameras to capture highly accurate aerial imagery, which is mathematically resolved into photorealistic 3D models.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3"/>
          <p:cNvSpPr/>
          <p:nvPr/>
        </p:nvSpPr>
        <p:spPr>
          <a:xfrm>
            <a:off x="6581880" y="1657440"/>
            <a:ext cx="454248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4284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D9488"/>
                </a:solidFill>
                <a:effectLst/>
                <a:uFillTx/>
                <a:latin typeface="Times New Roman SemiBold"/>
              </a:rPr>
              <a:t> Technical Foundation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4"/>
          <p:cNvSpPr/>
          <p:nvPr/>
        </p:nvSpPr>
        <p:spPr>
          <a:xfrm>
            <a:off x="1066680" y="1857240"/>
            <a:ext cx="476964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lus Jakarta Sans SemiBold"/>
              </a:rPr>
              <a:t>What is Drone-Based Mapping?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5"/>
          <p:cNvSpPr/>
          <p:nvPr/>
        </p:nvSpPr>
        <p:spPr>
          <a:xfrm>
            <a:off x="6581880" y="1857240"/>
            <a:ext cx="476964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lus Jakarta Sans SemiBold"/>
              </a:rPr>
              <a:t>Key Technologies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16" descr="image.png"/>
          <p:cNvPicPr/>
          <p:nvPr/>
        </p:nvPicPr>
        <p:blipFill>
          <a:blip r:embed="rId10"/>
          <a:stretch/>
        </p:blipFill>
        <p:spPr>
          <a:xfrm>
            <a:off x="6581880" y="2428920"/>
            <a:ext cx="303840" cy="30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17" descr="image.png"/>
          <p:cNvPicPr/>
          <p:nvPr/>
        </p:nvPicPr>
        <p:blipFill>
          <a:blip r:embed="rId11"/>
          <a:stretch/>
        </p:blipFill>
        <p:spPr>
          <a:xfrm>
            <a:off x="6581880" y="3192840"/>
            <a:ext cx="303840" cy="30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Picture 18" descr="image.png"/>
          <p:cNvPicPr/>
          <p:nvPr/>
        </p:nvPicPr>
        <p:blipFill>
          <a:blip r:embed="rId12"/>
          <a:stretch/>
        </p:blipFill>
        <p:spPr>
          <a:xfrm>
            <a:off x="6581880" y="3956400"/>
            <a:ext cx="303840" cy="30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Picture 19" descr="image.png"/>
          <p:cNvPicPr/>
          <p:nvPr/>
        </p:nvPicPr>
        <p:blipFill>
          <a:blip r:embed="rId13"/>
          <a:stretch/>
        </p:blipFill>
        <p:spPr>
          <a:xfrm>
            <a:off x="1190520" y="3450600"/>
            <a:ext cx="141840" cy="12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Picture 20" descr="image.png"/>
          <p:cNvPicPr/>
          <p:nvPr/>
        </p:nvPicPr>
        <p:blipFill>
          <a:blip r:embed="rId14"/>
          <a:stretch/>
        </p:blipFill>
        <p:spPr>
          <a:xfrm>
            <a:off x="3510000" y="3450600"/>
            <a:ext cx="122760" cy="12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21" descr="image.png"/>
          <p:cNvPicPr/>
          <p:nvPr/>
        </p:nvPicPr>
        <p:blipFill>
          <a:blip r:embed="rId15"/>
          <a:stretch/>
        </p:blipFill>
        <p:spPr>
          <a:xfrm>
            <a:off x="1190520" y="3870000"/>
            <a:ext cx="141840" cy="12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22" descr="image.png"/>
          <p:cNvPicPr/>
          <p:nvPr/>
        </p:nvPicPr>
        <p:blipFill>
          <a:blip r:embed="rId16"/>
          <a:stretch/>
        </p:blipFill>
        <p:spPr>
          <a:xfrm>
            <a:off x="3510000" y="3870000"/>
            <a:ext cx="122760" cy="12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Picture 23" descr="image.png"/>
          <p:cNvPicPr/>
          <p:nvPr/>
        </p:nvPicPr>
        <p:blipFill>
          <a:blip r:embed="rId17"/>
          <a:stretch/>
        </p:blipFill>
        <p:spPr>
          <a:xfrm>
            <a:off x="1190520" y="4289040"/>
            <a:ext cx="122760" cy="12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Picture 24" descr="image.png"/>
          <p:cNvPicPr/>
          <p:nvPr/>
        </p:nvPicPr>
        <p:blipFill>
          <a:blip r:embed="rId18"/>
          <a:stretch/>
        </p:blipFill>
        <p:spPr>
          <a:xfrm>
            <a:off x="3510000" y="4289040"/>
            <a:ext cx="151200" cy="12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Picture 25" descr="image.png"/>
          <p:cNvPicPr/>
          <p:nvPr/>
        </p:nvPicPr>
        <p:blipFill>
          <a:blip r:embed="rId19"/>
          <a:stretch/>
        </p:blipFill>
        <p:spPr>
          <a:xfrm>
            <a:off x="6581880" y="1676520"/>
            <a:ext cx="146520" cy="11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Box 26"/>
          <p:cNvSpPr/>
          <p:nvPr/>
        </p:nvSpPr>
        <p:spPr>
          <a:xfrm>
            <a:off x="7029360" y="2428920"/>
            <a:ext cx="40946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Multi-View Geometry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7"/>
          <p:cNvSpPr/>
          <p:nvPr/>
        </p:nvSpPr>
        <p:spPr>
          <a:xfrm>
            <a:off x="7029360" y="2647800"/>
            <a:ext cx="409464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71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Recovering complete 3D environmental architecture from overlapping 2D imagery.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8"/>
          <p:cNvSpPr/>
          <p:nvPr/>
        </p:nvSpPr>
        <p:spPr>
          <a:xfrm>
            <a:off x="7029360" y="3192840"/>
            <a:ext cx="40946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Binocular Vision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9"/>
          <p:cNvSpPr/>
          <p:nvPr/>
        </p:nvSpPr>
        <p:spPr>
          <a:xfrm>
            <a:off x="7029360" y="3411720"/>
            <a:ext cx="409464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71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Extracting absolute spatial depth using stereo shifts or consecutive flight capture pairings.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30"/>
          <p:cNvSpPr/>
          <p:nvPr/>
        </p:nvSpPr>
        <p:spPr>
          <a:xfrm>
            <a:off x="7029360" y="3956400"/>
            <a:ext cx="40946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Image Formation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1"/>
          <p:cNvSpPr/>
          <p:nvPr/>
        </p:nvSpPr>
        <p:spPr>
          <a:xfrm>
            <a:off x="7029360" y="4175640"/>
            <a:ext cx="409464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71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Managing raw light physics passing through lenses to generate high-fidelity sensor matrices.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2" descr="image.png"/>
          <p:cNvPicPr/>
          <p:nvPr/>
        </p:nvPicPr>
        <p:blipFill>
          <a:blip r:embed="rId1"/>
          <a:stretch/>
        </p:blipFill>
        <p:spPr>
          <a:xfrm>
            <a:off x="771480" y="3948120"/>
            <a:ext cx="5323320" cy="85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Picture 3" descr="image.png"/>
          <p:cNvPicPr/>
          <p:nvPr/>
        </p:nvPicPr>
        <p:blipFill>
          <a:blip r:embed="rId2"/>
          <a:stretch/>
        </p:blipFill>
        <p:spPr>
          <a:xfrm>
            <a:off x="771480" y="4942440"/>
            <a:ext cx="5323320" cy="85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Box 4"/>
          <p:cNvSpPr/>
          <p:nvPr/>
        </p:nvSpPr>
        <p:spPr>
          <a:xfrm>
            <a:off x="771480" y="581040"/>
            <a:ext cx="5589720" cy="8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Multi-View Geometry Principles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6"/>
          <p:cNvSpPr/>
          <p:nvPr/>
        </p:nvSpPr>
        <p:spPr>
          <a:xfrm>
            <a:off x="771480" y="2311920"/>
            <a:ext cx="53233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D9488"/>
                </a:solidFill>
                <a:effectLst/>
                <a:uFillTx/>
                <a:latin typeface="Plus Jakarta Sans"/>
              </a:rPr>
              <a:t>MATHEMATICAL STRUCTURE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7"/>
          <p:cNvSpPr/>
          <p:nvPr/>
        </p:nvSpPr>
        <p:spPr>
          <a:xfrm>
            <a:off x="771480" y="2531160"/>
            <a:ext cx="558972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Recovering 3D scene geometry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8"/>
          <p:cNvSpPr/>
          <p:nvPr/>
        </p:nvSpPr>
        <p:spPr>
          <a:xfrm>
            <a:off x="771480" y="2931120"/>
            <a:ext cx="5323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9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Multi-view geometry studies how 3D structural details can be calculated back by linking light pathways from several images taken from distinct camera coordinates.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Picture 9" descr="image.png"/>
          <p:cNvPicPr/>
          <p:nvPr/>
        </p:nvPicPr>
        <p:blipFill>
          <a:blip r:embed="rId3"/>
          <a:stretch/>
        </p:blipFill>
        <p:spPr>
          <a:xfrm>
            <a:off x="971640" y="4100760"/>
            <a:ext cx="227520" cy="22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Picture 10" descr="image.png"/>
          <p:cNvPicPr/>
          <p:nvPr/>
        </p:nvPicPr>
        <p:blipFill>
          <a:blip r:embed="rId4"/>
          <a:stretch/>
        </p:blipFill>
        <p:spPr>
          <a:xfrm>
            <a:off x="971640" y="5094720"/>
            <a:ext cx="227520" cy="22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Box 11"/>
          <p:cNvSpPr/>
          <p:nvPr/>
        </p:nvSpPr>
        <p:spPr>
          <a:xfrm>
            <a:off x="1343160" y="4100760"/>
            <a:ext cx="455184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Successive Captures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2"/>
          <p:cNvSpPr/>
          <p:nvPr/>
        </p:nvSpPr>
        <p:spPr>
          <a:xfrm>
            <a:off x="1343160" y="4300560"/>
            <a:ext cx="4551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363"/>
              </a:lnSpc>
            </a:pPr>
            <a:r>
              <a:rPr lang="en-US" sz="98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Drones capture a grid of consecutive, high-overlap images over the target site.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3"/>
          <p:cNvSpPr/>
          <p:nvPr/>
        </p:nvSpPr>
        <p:spPr>
          <a:xfrm>
            <a:off x="1343160" y="5094720"/>
            <a:ext cx="455184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Keypoint Matching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4"/>
          <p:cNvSpPr/>
          <p:nvPr/>
        </p:nvSpPr>
        <p:spPr>
          <a:xfrm>
            <a:off x="1343160" y="5294880"/>
            <a:ext cx="4551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363"/>
              </a:lnSpc>
            </a:pPr>
            <a:r>
              <a:rPr lang="en-US" sz="98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Computer vision locks identical feature descriptors across frames to estimate camera path orientation.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"/>
          <p:cNvPicPr/>
          <p:nvPr/>
        </p:nvPicPr>
        <p:blipFill>
          <a:blip r:embed="rId5"/>
          <a:srcRect l="4345" t="31448" r="0" b="0"/>
          <a:stretch/>
        </p:blipFill>
        <p:spPr>
          <a:xfrm>
            <a:off x="6629400" y="2057400"/>
            <a:ext cx="5028480" cy="2988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Picture 2" descr="image.png"/>
          <p:cNvPicPr/>
          <p:nvPr/>
        </p:nvPicPr>
        <p:blipFill>
          <a:blip r:embed="rId2"/>
          <a:stretch/>
        </p:blipFill>
        <p:spPr>
          <a:xfrm>
            <a:off x="771480" y="1362240"/>
            <a:ext cx="3358080" cy="49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Picture 3" descr="image.png"/>
          <p:cNvPicPr/>
          <p:nvPr/>
        </p:nvPicPr>
        <p:blipFill>
          <a:blip r:embed="rId3"/>
          <a:stretch/>
        </p:blipFill>
        <p:spPr>
          <a:xfrm>
            <a:off x="4416480" y="1362240"/>
            <a:ext cx="3358080" cy="49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Picture 4" descr="image.png"/>
          <p:cNvPicPr/>
          <p:nvPr/>
        </p:nvPicPr>
        <p:blipFill>
          <a:blip r:embed="rId4"/>
          <a:stretch/>
        </p:blipFill>
        <p:spPr>
          <a:xfrm>
            <a:off x="8061480" y="1362240"/>
            <a:ext cx="3358080" cy="49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Picture 5" descr="image.png"/>
          <p:cNvPicPr/>
          <p:nvPr/>
        </p:nvPicPr>
        <p:blipFill>
          <a:blip r:embed="rId5"/>
          <a:stretch/>
        </p:blipFill>
        <p:spPr>
          <a:xfrm>
            <a:off x="1066680" y="1704960"/>
            <a:ext cx="513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Picture 6" descr="image.png"/>
          <p:cNvPicPr/>
          <p:nvPr/>
        </p:nvPicPr>
        <p:blipFill>
          <a:blip r:embed="rId6"/>
          <a:stretch/>
        </p:blipFill>
        <p:spPr>
          <a:xfrm>
            <a:off x="4711680" y="1704960"/>
            <a:ext cx="513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7" descr="image.png"/>
          <p:cNvPicPr/>
          <p:nvPr/>
        </p:nvPicPr>
        <p:blipFill>
          <a:blip r:embed="rId7"/>
          <a:stretch/>
        </p:blipFill>
        <p:spPr>
          <a:xfrm>
            <a:off x="8356680" y="1704960"/>
            <a:ext cx="513360" cy="51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Box 8"/>
          <p:cNvSpPr/>
          <p:nvPr/>
        </p:nvSpPr>
        <p:spPr>
          <a:xfrm>
            <a:off x="771480" y="581040"/>
            <a:ext cx="1118016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Multi-View Geometry Applications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9"/>
          <p:cNvSpPr/>
          <p:nvPr/>
        </p:nvSpPr>
        <p:spPr>
          <a:xfrm>
            <a:off x="1066680" y="2448000"/>
            <a:ext cx="23616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3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3D Terrain Modelling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4711680" y="2448000"/>
            <a:ext cx="21290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3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No Laser Requirements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8356680" y="2448000"/>
            <a:ext cx="2469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3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Path Trajectory Calculation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Picture 12" descr="image.png"/>
          <p:cNvPicPr/>
          <p:nvPr/>
        </p:nvPicPr>
        <p:blipFill>
          <a:blip r:embed="rId8"/>
          <a:stretch/>
        </p:blipFill>
        <p:spPr>
          <a:xfrm>
            <a:off x="1219320" y="1847880"/>
            <a:ext cx="208440" cy="20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Picture 13" descr="image.png"/>
          <p:cNvPicPr/>
          <p:nvPr/>
        </p:nvPicPr>
        <p:blipFill>
          <a:blip r:embed="rId9"/>
          <a:stretch/>
        </p:blipFill>
        <p:spPr>
          <a:xfrm>
            <a:off x="4878360" y="1847880"/>
            <a:ext cx="180000" cy="20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Picture 14" descr="image.png"/>
          <p:cNvPicPr/>
          <p:nvPr/>
        </p:nvPicPr>
        <p:blipFill>
          <a:blip r:embed="rId10"/>
          <a:stretch/>
        </p:blipFill>
        <p:spPr>
          <a:xfrm>
            <a:off x="8229600" y="1847880"/>
            <a:ext cx="487800" cy="20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Picture 2" descr="image.png"/>
          <p:cNvPicPr/>
          <p:nvPr/>
        </p:nvPicPr>
        <p:blipFill>
          <a:blip r:embed="rId2"/>
          <a:stretch/>
        </p:blipFill>
        <p:spPr>
          <a:xfrm>
            <a:off x="6286680" y="1362240"/>
            <a:ext cx="5132880" cy="361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Box 3"/>
          <p:cNvSpPr/>
          <p:nvPr/>
        </p:nvSpPr>
        <p:spPr>
          <a:xfrm>
            <a:off x="771480" y="581040"/>
            <a:ext cx="1118016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Principles of Binocular Vision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4"/>
          <p:cNvSpPr/>
          <p:nvPr/>
        </p:nvSpPr>
        <p:spPr>
          <a:xfrm>
            <a:off x="771480" y="1362240"/>
            <a:ext cx="494244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D9488"/>
                </a:solidFill>
                <a:effectLst/>
                <a:uFillTx/>
                <a:latin typeface="Plus Jakarta Sans"/>
              </a:rPr>
              <a:t>BIOMIMETIC SENSING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771480" y="1581120"/>
            <a:ext cx="518940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Simulating biological depth depth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771480" y="1990800"/>
            <a:ext cx="4942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9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Binocular vision replicates human vision. By processing visual info from two separate horizontal apertures, we extract spatial depth coordinates relative to the lenses.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Picture 7" descr="image.png"/>
          <p:cNvPicPr/>
          <p:nvPr/>
        </p:nvPicPr>
        <p:blipFill>
          <a:blip r:embed="rId3"/>
          <a:stretch/>
        </p:blipFill>
        <p:spPr>
          <a:xfrm>
            <a:off x="6372360" y="1447920"/>
            <a:ext cx="4961520" cy="3447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Picture 8" descr="image.png"/>
          <p:cNvPicPr/>
          <p:nvPr/>
        </p:nvPicPr>
        <p:blipFill>
          <a:blip r:embed="rId4"/>
          <a:stretch/>
        </p:blipFill>
        <p:spPr>
          <a:xfrm>
            <a:off x="771480" y="5095800"/>
            <a:ext cx="17028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Picture 9" descr="image.png"/>
          <p:cNvPicPr/>
          <p:nvPr/>
        </p:nvPicPr>
        <p:blipFill>
          <a:blip r:embed="rId5"/>
          <a:stretch/>
        </p:blipFill>
        <p:spPr>
          <a:xfrm>
            <a:off x="771480" y="5686560"/>
            <a:ext cx="17028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Box 10"/>
          <p:cNvSpPr/>
          <p:nvPr/>
        </p:nvSpPr>
        <p:spPr>
          <a:xfrm>
            <a:off x="1076400" y="5067360"/>
            <a:ext cx="46281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Relative Baseline Displacement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1076400" y="5286240"/>
            <a:ext cx="46281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Captures perspectives separated by a small, calibrated physical distance.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2"/>
          <p:cNvSpPr/>
          <p:nvPr/>
        </p:nvSpPr>
        <p:spPr>
          <a:xfrm>
            <a:off x="1076400" y="5657760"/>
            <a:ext cx="46375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Virtual Stereo Combinations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3"/>
          <p:cNvSpPr/>
          <p:nvPr/>
        </p:nvSpPr>
        <p:spPr>
          <a:xfrm>
            <a:off x="1076400" y="5877000"/>
            <a:ext cx="46375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Achieved through dedicated dual-lens rigs or by combining high-overlap sequential single-lens frames along paths.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2" descr="image.png"/>
          <p:cNvPicPr/>
          <p:nvPr/>
        </p:nvPicPr>
        <p:blipFill>
          <a:blip r:embed="rId2"/>
          <a:stretch/>
        </p:blipFill>
        <p:spPr>
          <a:xfrm>
            <a:off x="771480" y="1362240"/>
            <a:ext cx="3358080" cy="49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3" descr="image.png"/>
          <p:cNvPicPr/>
          <p:nvPr/>
        </p:nvPicPr>
        <p:blipFill>
          <a:blip r:embed="rId3"/>
          <a:stretch/>
        </p:blipFill>
        <p:spPr>
          <a:xfrm>
            <a:off x="4416480" y="1362240"/>
            <a:ext cx="3358080" cy="49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Picture 4" descr="image.png"/>
          <p:cNvPicPr/>
          <p:nvPr/>
        </p:nvPicPr>
        <p:blipFill>
          <a:blip r:embed="rId4"/>
          <a:stretch/>
        </p:blipFill>
        <p:spPr>
          <a:xfrm>
            <a:off x="8061480" y="1362240"/>
            <a:ext cx="3358080" cy="49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Picture 5" descr="image.png"/>
          <p:cNvPicPr/>
          <p:nvPr/>
        </p:nvPicPr>
        <p:blipFill>
          <a:blip r:embed="rId5"/>
          <a:stretch/>
        </p:blipFill>
        <p:spPr>
          <a:xfrm>
            <a:off x="1066680" y="1704960"/>
            <a:ext cx="513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Picture 6" descr="image.png"/>
          <p:cNvPicPr/>
          <p:nvPr/>
        </p:nvPicPr>
        <p:blipFill>
          <a:blip r:embed="rId6"/>
          <a:stretch/>
        </p:blipFill>
        <p:spPr>
          <a:xfrm>
            <a:off x="4711680" y="1704960"/>
            <a:ext cx="51336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Picture 7" descr="image.png"/>
          <p:cNvPicPr/>
          <p:nvPr/>
        </p:nvPicPr>
        <p:blipFill>
          <a:blip r:embed="rId7"/>
          <a:stretch/>
        </p:blipFill>
        <p:spPr>
          <a:xfrm>
            <a:off x="8356680" y="1704960"/>
            <a:ext cx="513360" cy="51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Box 8"/>
          <p:cNvSpPr/>
          <p:nvPr/>
        </p:nvSpPr>
        <p:spPr>
          <a:xfrm>
            <a:off x="771480" y="581040"/>
            <a:ext cx="1118016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Depth Processing Pipeline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9"/>
          <p:cNvSpPr/>
          <p:nvPr/>
        </p:nvSpPr>
        <p:spPr>
          <a:xfrm>
            <a:off x="1066680" y="2286360"/>
            <a:ext cx="17992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3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1. Feature Matching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0"/>
          <p:cNvSpPr/>
          <p:nvPr/>
        </p:nvSpPr>
        <p:spPr>
          <a:xfrm>
            <a:off x="4711680" y="2448000"/>
            <a:ext cx="1899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3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2. Disparity Mapping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1"/>
          <p:cNvSpPr/>
          <p:nvPr/>
        </p:nvSpPr>
        <p:spPr>
          <a:xfrm>
            <a:off x="8356680" y="2448000"/>
            <a:ext cx="1959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3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3. Cloud Compilation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Picture 12" descr="image.png"/>
          <p:cNvPicPr/>
          <p:nvPr/>
        </p:nvPicPr>
        <p:blipFill>
          <a:blip r:embed="rId8"/>
          <a:stretch/>
        </p:blipFill>
        <p:spPr>
          <a:xfrm>
            <a:off x="1204920" y="1847880"/>
            <a:ext cx="236880" cy="20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Picture 13" descr="image.png"/>
          <p:cNvPicPr/>
          <p:nvPr/>
        </p:nvPicPr>
        <p:blipFill>
          <a:blip r:embed="rId9"/>
          <a:stretch/>
        </p:blipFill>
        <p:spPr>
          <a:xfrm>
            <a:off x="4835520" y="1847880"/>
            <a:ext cx="265680" cy="20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Picture 14" descr="image.png"/>
          <p:cNvPicPr/>
          <p:nvPr/>
        </p:nvPicPr>
        <p:blipFill>
          <a:blip r:embed="rId10"/>
          <a:stretch/>
        </p:blipFill>
        <p:spPr>
          <a:xfrm>
            <a:off x="8480520" y="1847880"/>
            <a:ext cx="265680" cy="20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Picture 2" descr="image.png"/>
          <p:cNvPicPr/>
          <p:nvPr/>
        </p:nvPicPr>
        <p:blipFill>
          <a:blip r:embed="rId2"/>
          <a:stretch/>
        </p:blipFill>
        <p:spPr>
          <a:xfrm>
            <a:off x="771480" y="5391000"/>
            <a:ext cx="4942440" cy="884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Picture 3" descr="image.png"/>
          <p:cNvPicPr/>
          <p:nvPr/>
        </p:nvPicPr>
        <p:blipFill>
          <a:blip r:embed="rId3"/>
          <a:stretch/>
        </p:blipFill>
        <p:spPr>
          <a:xfrm>
            <a:off x="6286680" y="1362240"/>
            <a:ext cx="5132880" cy="361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Box 4"/>
          <p:cNvSpPr/>
          <p:nvPr/>
        </p:nvSpPr>
        <p:spPr>
          <a:xfrm>
            <a:off x="771480" y="581040"/>
            <a:ext cx="1118016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Physics of Image Formation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5"/>
          <p:cNvSpPr/>
          <p:nvPr/>
        </p:nvSpPr>
        <p:spPr>
          <a:xfrm>
            <a:off x="771480" y="1362240"/>
            <a:ext cx="494244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D9488"/>
                </a:solidFill>
                <a:effectLst/>
                <a:uFillTx/>
                <a:latin typeface="Plus Jakarta Sans"/>
              </a:rPr>
              <a:t>OPTICAL PROJECTION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6"/>
          <p:cNvSpPr/>
          <p:nvPr/>
        </p:nvSpPr>
        <p:spPr>
          <a:xfrm>
            <a:off x="771480" y="1581120"/>
            <a:ext cx="518940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Resolving real world into digital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7"/>
          <p:cNvSpPr/>
          <p:nvPr/>
        </p:nvSpPr>
        <p:spPr>
          <a:xfrm>
            <a:off x="771480" y="1990800"/>
            <a:ext cx="4942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9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Image formation defines the mathematical transition of light waves reflected from physical targets through custom focal lenses and onto digital sensor grids.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Picture 8" descr="image.png"/>
          <p:cNvPicPr/>
          <p:nvPr/>
        </p:nvPicPr>
        <p:blipFill>
          <a:blip r:embed="rId4"/>
          <a:stretch/>
        </p:blipFill>
        <p:spPr>
          <a:xfrm>
            <a:off x="2048040" y="5767560"/>
            <a:ext cx="84600" cy="13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Picture 9" descr="image.png"/>
          <p:cNvPicPr/>
          <p:nvPr/>
        </p:nvPicPr>
        <p:blipFill>
          <a:blip r:embed="rId5"/>
          <a:stretch/>
        </p:blipFill>
        <p:spPr>
          <a:xfrm>
            <a:off x="3276720" y="5767560"/>
            <a:ext cx="84600" cy="13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Picture 10" descr="image.png"/>
          <p:cNvPicPr/>
          <p:nvPr/>
        </p:nvPicPr>
        <p:blipFill>
          <a:blip r:embed="rId6"/>
          <a:stretch/>
        </p:blipFill>
        <p:spPr>
          <a:xfrm>
            <a:off x="4543560" y="5767560"/>
            <a:ext cx="84600" cy="13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Picture 11" descr="image.png"/>
          <p:cNvPicPr/>
          <p:nvPr/>
        </p:nvPicPr>
        <p:blipFill>
          <a:blip r:embed="rId7"/>
          <a:stretch/>
        </p:blipFill>
        <p:spPr>
          <a:xfrm>
            <a:off x="6372360" y="1447920"/>
            <a:ext cx="4961520" cy="3447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Picture 12" descr="image.png"/>
          <p:cNvPicPr/>
          <p:nvPr/>
        </p:nvPicPr>
        <p:blipFill>
          <a:blip r:embed="rId8"/>
          <a:stretch/>
        </p:blipFill>
        <p:spPr>
          <a:xfrm>
            <a:off x="1328760" y="5591160"/>
            <a:ext cx="265680" cy="26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Box 13"/>
          <p:cNvSpPr/>
          <p:nvPr/>
        </p:nvSpPr>
        <p:spPr>
          <a:xfrm>
            <a:off x="1042920" y="5934240"/>
            <a:ext cx="83700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A"/>
                </a:solidFill>
                <a:effectLst/>
                <a:uFillTx/>
                <a:latin typeface="Plus Jakarta Sans SemiBold"/>
              </a:rPr>
              <a:t>Reflected Light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Picture 14" descr="image.png"/>
          <p:cNvPicPr/>
          <p:nvPr/>
        </p:nvPicPr>
        <p:blipFill>
          <a:blip r:embed="rId9"/>
          <a:stretch/>
        </p:blipFill>
        <p:spPr>
          <a:xfrm>
            <a:off x="2571840" y="5591160"/>
            <a:ext cx="265680" cy="26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TextBox 15"/>
          <p:cNvSpPr/>
          <p:nvPr/>
        </p:nvSpPr>
        <p:spPr>
          <a:xfrm>
            <a:off x="2300400" y="5934240"/>
            <a:ext cx="80856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A"/>
                </a:solidFill>
                <a:effectLst/>
                <a:uFillTx/>
                <a:latin typeface="Plus Jakarta Sans SemiBold"/>
              </a:rPr>
              <a:t>Optical Lenses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Picture 16" descr="image.png"/>
          <p:cNvPicPr/>
          <p:nvPr/>
        </p:nvPicPr>
        <p:blipFill>
          <a:blip r:embed="rId10"/>
          <a:stretch/>
        </p:blipFill>
        <p:spPr>
          <a:xfrm>
            <a:off x="3819600" y="5591160"/>
            <a:ext cx="265680" cy="26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Box 17"/>
          <p:cNvSpPr/>
          <p:nvPr/>
        </p:nvSpPr>
        <p:spPr>
          <a:xfrm>
            <a:off x="3529080" y="5934240"/>
            <a:ext cx="8467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A"/>
                </a:solidFill>
                <a:effectLst/>
                <a:uFillTx/>
                <a:latin typeface="Plus Jakarta Sans SemiBold"/>
              </a:rPr>
              <a:t>Sensor Capture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Picture 18" descr="image.png"/>
          <p:cNvPicPr/>
          <p:nvPr/>
        </p:nvPicPr>
        <p:blipFill>
          <a:blip r:embed="rId11"/>
          <a:stretch/>
        </p:blipFill>
        <p:spPr>
          <a:xfrm>
            <a:off x="4986360" y="5591160"/>
            <a:ext cx="265680" cy="26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Box 19"/>
          <p:cNvSpPr/>
          <p:nvPr/>
        </p:nvSpPr>
        <p:spPr>
          <a:xfrm>
            <a:off x="4795920" y="5934240"/>
            <a:ext cx="64656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F172A"/>
                </a:solidFill>
                <a:effectLst/>
                <a:uFillTx/>
                <a:latin typeface="Plus Jakarta Sans SemiBold"/>
              </a:rPr>
              <a:t>Digital Data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Picture 2" descr="image.png"/>
          <p:cNvPicPr/>
          <p:nvPr/>
        </p:nvPicPr>
        <p:blipFill>
          <a:blip r:embed="rId2"/>
          <a:stretch/>
        </p:blipFill>
        <p:spPr>
          <a:xfrm>
            <a:off x="771480" y="1362240"/>
            <a:ext cx="5132880" cy="49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Picture 3" descr="image.png"/>
          <p:cNvPicPr/>
          <p:nvPr/>
        </p:nvPicPr>
        <p:blipFill>
          <a:blip r:embed="rId3"/>
          <a:stretch/>
        </p:blipFill>
        <p:spPr>
          <a:xfrm>
            <a:off x="6286680" y="1362240"/>
            <a:ext cx="5132880" cy="491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extBox 4"/>
          <p:cNvSpPr/>
          <p:nvPr/>
        </p:nvSpPr>
        <p:spPr>
          <a:xfrm>
            <a:off x="771480" y="581040"/>
            <a:ext cx="1118016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Factors and Impact on Mapping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5"/>
          <p:cNvSpPr/>
          <p:nvPr/>
        </p:nvSpPr>
        <p:spPr>
          <a:xfrm>
            <a:off x="1066680" y="1657440"/>
            <a:ext cx="454248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4284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D9488"/>
                </a:solidFill>
                <a:effectLst/>
                <a:uFillTx/>
                <a:latin typeface="Times New Roman SemiBold"/>
              </a:rPr>
              <a:t> Hardware &amp; Environmental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6"/>
          <p:cNvSpPr/>
          <p:nvPr/>
        </p:nvSpPr>
        <p:spPr>
          <a:xfrm>
            <a:off x="1066680" y="2428920"/>
            <a:ext cx="454248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9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Reconstruction precision depends heavily on raw image accuracy. Major factors affecting spatial data cleanups include: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7"/>
          <p:cNvSpPr/>
          <p:nvPr/>
        </p:nvSpPr>
        <p:spPr>
          <a:xfrm>
            <a:off x="6581880" y="1657440"/>
            <a:ext cx="454248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4284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D9488"/>
                </a:solidFill>
                <a:effectLst/>
                <a:uFillTx/>
                <a:latin typeface="Times New Roman SemiBold"/>
              </a:rPr>
              <a:t> Pipeline Impact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8"/>
          <p:cNvSpPr/>
          <p:nvPr/>
        </p:nvSpPr>
        <p:spPr>
          <a:xfrm>
            <a:off x="6581880" y="2428920"/>
            <a:ext cx="454248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9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Optimal optical capture establishes pristine raw pixel inputs, leading to drastic downstream improvements: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9"/>
          <p:cNvSpPr/>
          <p:nvPr/>
        </p:nvSpPr>
        <p:spPr>
          <a:xfrm>
            <a:off x="1066680" y="1857240"/>
            <a:ext cx="476964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lus Jakarta Sans SemiBold"/>
              </a:rPr>
              <a:t>Optical Distortions &amp; Quality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0"/>
          <p:cNvSpPr/>
          <p:nvPr/>
        </p:nvSpPr>
        <p:spPr>
          <a:xfrm>
            <a:off x="6581880" y="1857240"/>
            <a:ext cx="476964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lus Jakarta Sans SemiBold"/>
              </a:rPr>
              <a:t>Downstream Reconstruction Quality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Picture 11" descr="image.png"/>
          <p:cNvPicPr/>
          <p:nvPr/>
        </p:nvPicPr>
        <p:blipFill>
          <a:blip r:embed="rId4"/>
          <a:stretch/>
        </p:blipFill>
        <p:spPr>
          <a:xfrm>
            <a:off x="1066680" y="1676520"/>
            <a:ext cx="118080" cy="11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Picture 12" descr="image.png"/>
          <p:cNvPicPr/>
          <p:nvPr/>
        </p:nvPicPr>
        <p:blipFill>
          <a:blip r:embed="rId5"/>
          <a:stretch/>
        </p:blipFill>
        <p:spPr>
          <a:xfrm>
            <a:off x="1066680" y="3379320"/>
            <a:ext cx="17028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Picture 13" descr="image.png"/>
          <p:cNvPicPr/>
          <p:nvPr/>
        </p:nvPicPr>
        <p:blipFill>
          <a:blip r:embed="rId6"/>
          <a:stretch/>
        </p:blipFill>
        <p:spPr>
          <a:xfrm>
            <a:off x="1066680" y="4169880"/>
            <a:ext cx="17028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Picture 14" descr="image.png"/>
          <p:cNvPicPr/>
          <p:nvPr/>
        </p:nvPicPr>
        <p:blipFill>
          <a:blip r:embed="rId7"/>
          <a:stretch/>
        </p:blipFill>
        <p:spPr>
          <a:xfrm>
            <a:off x="6581880" y="1676520"/>
            <a:ext cx="118080" cy="11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Picture 15" descr="image.png"/>
          <p:cNvPicPr/>
          <p:nvPr/>
        </p:nvPicPr>
        <p:blipFill>
          <a:blip r:embed="rId8"/>
          <a:stretch/>
        </p:blipFill>
        <p:spPr>
          <a:xfrm>
            <a:off x="6581880" y="3135600"/>
            <a:ext cx="17028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Picture 16" descr="image.png"/>
          <p:cNvPicPr/>
          <p:nvPr/>
        </p:nvPicPr>
        <p:blipFill>
          <a:blip r:embed="rId9"/>
          <a:stretch/>
        </p:blipFill>
        <p:spPr>
          <a:xfrm>
            <a:off x="6581880" y="3926160"/>
            <a:ext cx="17028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Box 17"/>
          <p:cNvSpPr/>
          <p:nvPr/>
        </p:nvSpPr>
        <p:spPr>
          <a:xfrm>
            <a:off x="1371600" y="3350880"/>
            <a:ext cx="4237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System Setup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8"/>
          <p:cNvSpPr/>
          <p:nvPr/>
        </p:nvSpPr>
        <p:spPr>
          <a:xfrm>
            <a:off x="1371600" y="3569760"/>
            <a:ext cx="423756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Lenses sharpness, high sensor resolution, precise aperture settings, and camera calibration.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9"/>
          <p:cNvSpPr/>
          <p:nvPr/>
        </p:nvSpPr>
        <p:spPr>
          <a:xfrm>
            <a:off x="1371600" y="4141440"/>
            <a:ext cx="4237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Environmental Exposure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20"/>
          <p:cNvSpPr/>
          <p:nvPr/>
        </p:nvSpPr>
        <p:spPr>
          <a:xfrm>
            <a:off x="1371600" y="4360320"/>
            <a:ext cx="423756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Flight elevations, atmospheric haze, crosswinds shaking the drone, and poor site lighting.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21"/>
          <p:cNvSpPr/>
          <p:nvPr/>
        </p:nvSpPr>
        <p:spPr>
          <a:xfrm>
            <a:off x="6886440" y="3106800"/>
            <a:ext cx="42375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Solid Keypoint Tracking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22"/>
          <p:cNvSpPr/>
          <p:nvPr/>
        </p:nvSpPr>
        <p:spPr>
          <a:xfrm>
            <a:off x="6886440" y="3326040"/>
            <a:ext cx="423756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High-contrast, clean-focus textures allow computers to easily match homologous locations.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3"/>
          <p:cNvSpPr/>
          <p:nvPr/>
        </p:nvSpPr>
        <p:spPr>
          <a:xfrm>
            <a:off x="6886440" y="3897360"/>
            <a:ext cx="39996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Minimized Processing Errors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24"/>
          <p:cNvSpPr/>
          <p:nvPr/>
        </p:nvSpPr>
        <p:spPr>
          <a:xfrm>
            <a:off x="6886440" y="4116600"/>
            <a:ext cx="39996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Eliminates geometric warping artifacts in final structural outputs.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Picture 2" descr="image.png"/>
          <p:cNvPicPr/>
          <p:nvPr/>
        </p:nvPicPr>
        <p:blipFill>
          <a:blip r:embed="rId2"/>
          <a:stretch/>
        </p:blipFill>
        <p:spPr>
          <a:xfrm>
            <a:off x="771480" y="2234520"/>
            <a:ext cx="2448000" cy="134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Picture 3" descr="image.png"/>
          <p:cNvPicPr/>
          <p:nvPr/>
        </p:nvPicPr>
        <p:blipFill>
          <a:blip r:embed="rId3"/>
          <a:stretch/>
        </p:blipFill>
        <p:spPr>
          <a:xfrm>
            <a:off x="3504600" y="4057560"/>
            <a:ext cx="2448000" cy="134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Picture 4" descr="image.png"/>
          <p:cNvPicPr/>
          <p:nvPr/>
        </p:nvPicPr>
        <p:blipFill>
          <a:blip r:embed="rId4"/>
          <a:stretch/>
        </p:blipFill>
        <p:spPr>
          <a:xfrm>
            <a:off x="6238080" y="2234520"/>
            <a:ext cx="2448000" cy="134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3" name="Picture 5" descr="image.png"/>
          <p:cNvPicPr/>
          <p:nvPr/>
        </p:nvPicPr>
        <p:blipFill>
          <a:blip r:embed="rId5"/>
          <a:stretch/>
        </p:blipFill>
        <p:spPr>
          <a:xfrm>
            <a:off x="8971200" y="4057560"/>
            <a:ext cx="2448000" cy="134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Box 6"/>
          <p:cNvSpPr/>
          <p:nvPr/>
        </p:nvSpPr>
        <p:spPr>
          <a:xfrm>
            <a:off x="771480" y="581040"/>
            <a:ext cx="1118016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End-to-End Mapping Workflow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7"/>
          <p:cNvSpPr/>
          <p:nvPr/>
        </p:nvSpPr>
        <p:spPr>
          <a:xfrm>
            <a:off x="771480" y="3809880"/>
            <a:ext cx="10647720" cy="18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8"/>
          <p:cNvSpPr/>
          <p:nvPr/>
        </p:nvSpPr>
        <p:spPr>
          <a:xfrm>
            <a:off x="971640" y="2434680"/>
            <a:ext cx="204804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1" u="none" strike="noStrike">
                <a:solidFill>
                  <a:srgbClr val="0D9488"/>
                </a:solidFill>
                <a:effectLst/>
                <a:uFillTx/>
                <a:latin typeface="Plus Jakarta Sans"/>
              </a:rPr>
              <a:t>01. CAPTURE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9"/>
          <p:cNvSpPr/>
          <p:nvPr/>
        </p:nvSpPr>
        <p:spPr>
          <a:xfrm>
            <a:off x="971640" y="2644200"/>
            <a:ext cx="21502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Grid Path Planning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0"/>
          <p:cNvSpPr/>
          <p:nvPr/>
        </p:nvSpPr>
        <p:spPr>
          <a:xfrm>
            <a:off x="971640" y="2901240"/>
            <a:ext cx="2048040" cy="47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261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UAV plans grid trajectories and begins autonomous sweeps to capture high-overlap frames.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1"/>
          <p:cNvSpPr/>
          <p:nvPr/>
        </p:nvSpPr>
        <p:spPr>
          <a:xfrm>
            <a:off x="3704760" y="4257720"/>
            <a:ext cx="204804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1" u="none" strike="noStrike">
                <a:solidFill>
                  <a:srgbClr val="0D9488"/>
                </a:solidFill>
                <a:effectLst/>
                <a:uFillTx/>
                <a:latin typeface="Plus Jakarta Sans"/>
              </a:rPr>
              <a:t>02. OPTICS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2"/>
          <p:cNvSpPr/>
          <p:nvPr/>
        </p:nvSpPr>
        <p:spPr>
          <a:xfrm>
            <a:off x="3704760" y="4467240"/>
            <a:ext cx="21502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Optical Formation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3"/>
          <p:cNvSpPr/>
          <p:nvPr/>
        </p:nvSpPr>
        <p:spPr>
          <a:xfrm>
            <a:off x="3704760" y="4724280"/>
            <a:ext cx="2048040" cy="47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261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Camera focal lenses focus reflected light rays onto digital sensors to produce pristine raw images.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4"/>
          <p:cNvSpPr/>
          <p:nvPr/>
        </p:nvSpPr>
        <p:spPr>
          <a:xfrm>
            <a:off x="6437880" y="2434680"/>
            <a:ext cx="204804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1" u="none" strike="noStrike">
                <a:solidFill>
                  <a:srgbClr val="0D9488"/>
                </a:solidFill>
                <a:effectLst/>
                <a:uFillTx/>
                <a:latin typeface="Plus Jakarta Sans"/>
              </a:rPr>
              <a:t>03. COMPUTE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15"/>
          <p:cNvSpPr/>
          <p:nvPr/>
        </p:nvSpPr>
        <p:spPr>
          <a:xfrm>
            <a:off x="6437880" y="2644200"/>
            <a:ext cx="21502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Geometry &amp; Disparity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6"/>
          <p:cNvSpPr/>
          <p:nvPr/>
        </p:nvSpPr>
        <p:spPr>
          <a:xfrm>
            <a:off x="6437880" y="2901240"/>
            <a:ext cx="2048040" cy="47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261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Core models track descriptors, execute camera position checks, and compile stereo baseline ranges.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7"/>
          <p:cNvSpPr/>
          <p:nvPr/>
        </p:nvSpPr>
        <p:spPr>
          <a:xfrm>
            <a:off x="9171360" y="4257720"/>
            <a:ext cx="204804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1" u="none" strike="noStrike">
                <a:solidFill>
                  <a:srgbClr val="0D9488"/>
                </a:solidFill>
                <a:effectLst/>
                <a:uFillTx/>
                <a:latin typeface="Plus Jakarta Sans"/>
              </a:rPr>
              <a:t>04. OUTPUT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8"/>
          <p:cNvSpPr/>
          <p:nvPr/>
        </p:nvSpPr>
        <p:spPr>
          <a:xfrm>
            <a:off x="9171360" y="4467240"/>
            <a:ext cx="21502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Spatial Map Models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9"/>
          <p:cNvSpPr/>
          <p:nvPr/>
        </p:nvSpPr>
        <p:spPr>
          <a:xfrm>
            <a:off x="9171360" y="4724280"/>
            <a:ext cx="2048040" cy="47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261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Point clouds output highly accurate structural meshes, digital elevation maps, and final GIS layers.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ounded Rectangle 20"/>
          <p:cNvSpPr/>
          <p:nvPr/>
        </p:nvSpPr>
        <p:spPr>
          <a:xfrm>
            <a:off x="1929240" y="3753000"/>
            <a:ext cx="132120" cy="132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6240" tIns="45000" rIns="662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Rounded Rectangle 21"/>
          <p:cNvSpPr/>
          <p:nvPr/>
        </p:nvSpPr>
        <p:spPr>
          <a:xfrm>
            <a:off x="4662720" y="3753000"/>
            <a:ext cx="132120" cy="132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6240" tIns="45000" rIns="662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ounded Rectangle 22"/>
          <p:cNvSpPr/>
          <p:nvPr/>
        </p:nvSpPr>
        <p:spPr>
          <a:xfrm>
            <a:off x="7395840" y="3753000"/>
            <a:ext cx="132120" cy="132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6240" tIns="45000" rIns="662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ounded Rectangle 23"/>
          <p:cNvSpPr/>
          <p:nvPr/>
        </p:nvSpPr>
        <p:spPr>
          <a:xfrm>
            <a:off x="10128960" y="3753000"/>
            <a:ext cx="132120" cy="132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6240" tIns="45000" rIns="662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Picture 2" descr="image.png"/>
          <p:cNvPicPr/>
          <p:nvPr/>
        </p:nvPicPr>
        <p:blipFill>
          <a:blip r:embed="rId2"/>
          <a:stretch/>
        </p:blipFill>
        <p:spPr>
          <a:xfrm>
            <a:off x="5257800" y="914400"/>
            <a:ext cx="1789560" cy="19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Picture 3" descr="image.png"/>
          <p:cNvPicPr/>
          <p:nvPr/>
        </p:nvPicPr>
        <p:blipFill>
          <a:blip r:embed="rId3"/>
          <a:stretch/>
        </p:blipFill>
        <p:spPr>
          <a:xfrm>
            <a:off x="2286000" y="3849840"/>
            <a:ext cx="7619040" cy="99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Box 4"/>
          <p:cNvSpPr/>
          <p:nvPr/>
        </p:nvSpPr>
        <p:spPr>
          <a:xfrm>
            <a:off x="3498120" y="1371600"/>
            <a:ext cx="519444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30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Future of Drone Mapping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5"/>
          <p:cNvSpPr/>
          <p:nvPr/>
        </p:nvSpPr>
        <p:spPr>
          <a:xfrm>
            <a:off x="2286000" y="2646000"/>
            <a:ext cx="7619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By dynamically chaining </a:t>
            </a: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Image Formation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 (lens calibrations), </a:t>
            </a: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Binocular Vision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 (depth metrics), and </a:t>
            </a: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Multi-View Geometry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 (structural parameters), modern aerial drones turn raw flat snapshots into highly-accurate digital replicas of our complex planet.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6"/>
          <p:cNvSpPr/>
          <p:nvPr/>
        </p:nvSpPr>
        <p:spPr>
          <a:xfrm>
            <a:off x="3624120" y="5183280"/>
            <a:ext cx="494244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 SemiBold"/>
              </a:rPr>
              <a:t>SURVEYING • AGRICULTURE • CONSTRUCTION • GEOSPATIAL INSIGHTS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7"/>
          <p:cNvSpPr/>
          <p:nvPr/>
        </p:nvSpPr>
        <p:spPr>
          <a:xfrm>
            <a:off x="2505600" y="4088160"/>
            <a:ext cx="71798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D9488"/>
                </a:solidFill>
                <a:effectLst/>
                <a:uFillTx/>
                <a:latin typeface="Plus Jakarta Sans"/>
              </a:rPr>
              <a:t>Questions &amp; Discussion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8"/>
          <p:cNvSpPr/>
          <p:nvPr/>
        </p:nvSpPr>
        <p:spPr>
          <a:xfrm>
            <a:off x="2676600" y="4383360"/>
            <a:ext cx="6837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800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 Medium"/>
              </a:rPr>
              <a:t>Thank you for your valuable time and attention.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2026-07-16T11:13:56Z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